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(indexed, Q1 = 100)</c:v>
                </c:pt>
              </c:strCache>
            </c:strRef>
          </c:tx>
          <c:spPr>
            <a:solidFill>
              <a:srgbClr val="E4022D"/>
            </a:solidFill>
            <a:ln w="3810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E4022D"/>
              </a:solidFill>
              <a:ln w="25400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Q1+1</c:v>
                  </c:pt>
                  <c:pt idx="5">
                    <c:v>Q2+1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112</c:v>
                </c:pt>
                <c:pt idx="2">
                  <c:v>128</c:v>
                </c:pt>
                <c:pt idx="3">
                  <c:v>140</c:v>
                </c:pt>
                <c:pt idx="4">
                  <c:v>155</c:v>
                </c:pt>
                <c:pt idx="5">
                  <c:v>168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2DED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JetBrains Mon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80"/>
        </c:scaling>
        <c:delete val="0"/>
        <c:axPos val="l"/>
        <c:majorGridlines>
          <c:spPr>
            <a:ln w="1270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2DED6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3"/>
                </a:solidFill>
                <a:latin typeface="JetBrains Mon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Confidential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905000"/>
            <a:ext cx="1112489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200" b="1" spc="3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v0.6 · Partnership proposal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33400" y="2286000"/>
            <a:ext cx="11124895" cy="285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0" spc="-2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partnership </a:t>
            </a:r>
            <a:pPr indent="0" marL="0">
              <a:lnSpc>
                <a:spcPct val="100000"/>
              </a:lnSpc>
              <a:buNone/>
            </a:pPr>
            <a:r>
              <a:rPr lang="en-US" sz="8800" i="1" spc="-2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proposal</a:t>
            </a:r>
            <a:pPr indent="0" marL="0">
              <a:lnSpc>
                <a:spcPct val="100000"/>
              </a:lnSpc>
              <a:buNone/>
            </a:pPr>
            <a:r>
              <a:rPr lang="en-US" sz="8800" spc="-2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,</a:t>
            </a:r>
            <a:endParaRPr lang="en-US" sz="8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0" spc="-2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not a pitch.</a:t>
            </a:r>
            <a:endParaRPr lang="en-US" sz="8800" dirty="0"/>
          </a:p>
        </p:txBody>
      </p:sp>
      <p:sp>
        <p:nvSpPr>
          <p:cNvPr id="7" name="Text 4"/>
          <p:cNvSpPr/>
          <p:nvPr/>
        </p:nvSpPr>
        <p:spPr>
          <a:xfrm>
            <a:off x="533400" y="4953000"/>
            <a:ext cx="37082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33400" y="5162550"/>
            <a:ext cx="3708298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[Client name]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241698" y="4953000"/>
            <a:ext cx="37082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PREPARED BY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241698" y="5162550"/>
            <a:ext cx="3708298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Partnership team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949997" y="4953000"/>
            <a:ext cx="37082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949997" y="5162550"/>
            <a:ext cx="3708298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[Month YYYY]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pap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BFC5C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Partnership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FC5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914400"/>
            <a:ext cx="1112489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— </a:t>
            </a:r>
            <a:pPr indent="0" marL="0">
              <a:buNone/>
            </a:pPr>
            <a:r>
              <a:rPr lang="en-US" sz="1100" spc="400" kern="0" dirty="0">
                <a:solidFill>
                  <a:srgbClr val="BFC5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01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2667000"/>
            <a:ext cx="11124895" cy="1333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0" spc="-2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</a:t>
            </a:r>
            <a:pPr indent="0" marL="0">
              <a:buNone/>
            </a:pPr>
            <a:r>
              <a:rPr lang="en-US" sz="10000" i="1" spc="-2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context</a:t>
            </a:r>
            <a:pPr indent="0" marL="0">
              <a:buNone/>
            </a:pPr>
            <a:r>
              <a:rPr lang="en-US" sz="10000" spc="-2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.</a:t>
            </a:r>
            <a:endParaRPr lang="en-US" sz="10000" dirty="0"/>
          </a:p>
        </p:txBody>
      </p:sp>
      <p:sp>
        <p:nvSpPr>
          <p:cNvPr id="7" name="Text 4"/>
          <p:cNvSpPr/>
          <p:nvPr/>
        </p:nvSpPr>
        <p:spPr>
          <a:xfrm>
            <a:off x="533400" y="4114800"/>
            <a:ext cx="6095848" cy="533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C5C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Why Kilowott is built differently — and why that matters for the work ahead.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Partnership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2192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PARTNERSHIP MODEL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504950"/>
            <a:ext cx="5410048" cy="190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6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Four practices,
</a:t>
            </a:r>
            <a:pPr indent="0" marL="0">
              <a:lnSpc>
                <a:spcPct val="102000"/>
              </a:lnSpc>
              <a:buNone/>
            </a:pPr>
            <a:r>
              <a:rPr lang="en-US" sz="56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one</a:t>
            </a:r>
            <a:pPr indent="0" marL="0">
              <a:lnSpc>
                <a:spcPct val="102000"/>
              </a:lnSpc>
              <a:buNone/>
            </a:pPr>
            <a:r>
              <a:rPr lang="en-US" sz="56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accountable team.</a:t>
            </a:r>
            <a:endParaRPr lang="en-US" sz="5600" dirty="0"/>
          </a:p>
        </p:txBody>
      </p:sp>
      <p:sp>
        <p:nvSpPr>
          <p:cNvPr id="7" name="Text 4"/>
          <p:cNvSpPr/>
          <p:nvPr/>
        </p:nvSpPr>
        <p:spPr>
          <a:xfrm>
            <a:off x="533400" y="3714750"/>
            <a:ext cx="5410048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Every engagement pulls from the same four practices — so strategy, execution, and ownership sit inside one team, not across three contracts.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48248" y="1219200"/>
            <a:ext cx="541004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48248" y="1333500"/>
            <a:ext cx="381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667348" y="1295400"/>
            <a:ext cx="4990948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Kilowott for Brands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67348" y="1581150"/>
            <a:ext cx="4990948" cy="419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Strategy plus hands-on execution, with full operational ownership of delivery.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48248" y="2133600"/>
            <a:ext cx="541004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48248" y="2247900"/>
            <a:ext cx="381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667348" y="2209800"/>
            <a:ext cx="4990948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Kilowott for Agencies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667348" y="2495550"/>
            <a:ext cx="4990948" cy="419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Embedded specialists integrated into your team — two flexible models, measured in ROI.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48248" y="3048000"/>
            <a:ext cx="541004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248248" y="3162300"/>
            <a:ext cx="381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667348" y="3124200"/>
            <a:ext cx="4990948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Kilowott Intelligence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6667348" y="3409950"/>
            <a:ext cx="4990948" cy="419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systems paired with human oversight — reliable, goal-driven, accountable.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48248" y="3962400"/>
            <a:ext cx="541004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48248" y="4076700"/>
            <a:ext cx="381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667348" y="4038600"/>
            <a:ext cx="4990948" cy="247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Kilowott Workforce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6667348" y="4324350"/>
            <a:ext cx="4990948" cy="419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Cross-functional teams that extend your capability without the overhead of building from scratch.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48248" y="4876800"/>
            <a:ext cx="541004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Proof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714500"/>
            <a:ext cx="6095848" cy="342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0" spc="-10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14</a:t>
            </a:r>
            <a:pPr indent="0" marL="0">
              <a:lnSpc>
                <a:spcPct val="100000"/>
              </a:lnSpc>
              <a:buNone/>
            </a:pPr>
            <a:r>
              <a:rPr lang="en-US" sz="28000" i="1" spc="-10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×</a:t>
            </a:r>
            <a:endParaRPr lang="en-US" sz="28000" dirty="0"/>
          </a:p>
        </p:txBody>
      </p:sp>
      <p:sp>
        <p:nvSpPr>
          <p:cNvPr id="6" name="Text 3"/>
          <p:cNvSpPr/>
          <p:nvPr/>
        </p:nvSpPr>
        <p:spPr>
          <a:xfrm>
            <a:off x="6476848" y="2286000"/>
            <a:ext cx="51814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PROOF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76848" y="2571750"/>
            <a:ext cx="5181448" cy="1333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Faster delivery than an in-house baseline over a 12-month window.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6476848" y="4038600"/>
            <a:ext cx="5181448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Across 9 enterprise programs run since 2022, measured against each client’s pre-engagement internal velocity.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76848" y="4762500"/>
            <a:ext cx="51814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 — Kilowott program ops · 2024 benchmark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Testimonial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143000"/>
            <a:ext cx="1143000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0" i="1" spc="-4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“</a:t>
            </a:r>
            <a:endParaRPr lang="en-US" sz="18000" dirty="0"/>
          </a:p>
        </p:txBody>
      </p:sp>
      <p:sp>
        <p:nvSpPr>
          <p:cNvPr id="6" name="Text 3"/>
          <p:cNvSpPr/>
          <p:nvPr/>
        </p:nvSpPr>
        <p:spPr>
          <a:xfrm>
            <a:off x="1524000" y="1524000"/>
            <a:ext cx="10096195" cy="2667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Kilowott didn’t hand us a deliverable — they handed us an operating cadence. Six weeks in, we were measuring things we’d never measured before.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1524000" y="4953000"/>
            <a:ext cx="1905000" cy="0"/>
          </a:xfrm>
          <a:prstGeom prst="line">
            <a:avLst/>
          </a:prstGeom>
          <a:noFill/>
          <a:ln w="25400">
            <a:solidFill>
              <a:srgbClr val="E4022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524000" y="5048250"/>
            <a:ext cx="609584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Head of Growth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524000" y="5295900"/>
            <a:ext cx="60958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Nordic DTC retail client · 2024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hero-pho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0B0F14">
              <a:alpha val="60000"/>
            </a:srgbClr>
          </a:solidFill>
          <a:ln w="12700">
            <a:solidFill>
              <a:srgbClr val="0B0F1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4800600"/>
            <a:ext cx="12191695" cy="2057400"/>
          </a:xfrm>
          <a:prstGeom prst="rect">
            <a:avLst/>
          </a:prstGeom>
          <a:solidFill>
            <a:srgbClr val="0B0F14">
              <a:alpha val="85000"/>
            </a:srgbClr>
          </a:solidFill>
          <a:ln w="12700">
            <a:solidFill>
              <a:srgbClr val="0B0F14">
                <a:alpha val="0"/>
              </a:srgbClr>
            </a:solidFill>
            <a:prstDash val="solid"/>
          </a:ln>
        </p:spPr>
      </p:sp>
      <p:pic>
        <p:nvPicPr>
          <p:cNvPr id="5" name="Image 1" descr="/private/tmp/kilowott-deck-build/logo-pap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BFC5C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Team at work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FC5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15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33400" y="4381500"/>
            <a:ext cx="1112489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HOW WE SHOW UP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33400" y="4686300"/>
            <a:ext cx="8000848" cy="152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200" spc="-1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On the floor,
</a:t>
            </a:r>
            <a:pPr indent="0" marL="0">
              <a:lnSpc>
                <a:spcPct val="100000"/>
              </a:lnSpc>
              <a:buNone/>
            </a:pPr>
            <a:r>
              <a:rPr lang="en-US" sz="72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not</a:t>
            </a:r>
            <a:pPr indent="0" marL="0">
              <a:lnSpc>
                <a:spcPct val="100000"/>
              </a:lnSpc>
              <a:buNone/>
            </a:pPr>
            <a:r>
              <a:rPr lang="en-US" sz="7200" spc="-1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on a call.</a:t>
            </a:r>
            <a:endParaRPr lang="en-US" sz="7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402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pap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BFC5C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Start here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FC5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905000"/>
            <a:ext cx="1112489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33400" y="2286000"/>
            <a:ext cx="11124895" cy="2667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0" spc="-2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Let’s make the </a:t>
            </a:r>
            <a:pPr indent="0" marL="0">
              <a:lnSpc>
                <a:spcPct val="100000"/>
              </a:lnSpc>
              <a:buNone/>
            </a:pPr>
            <a:r>
              <a:rPr lang="en-US" sz="8800" i="1" spc="-2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first</a:t>
            </a:r>
            <a:pPr indent="0" marL="0">
              <a:lnSpc>
                <a:spcPct val="100000"/>
              </a:lnSpc>
              <a:buNone/>
            </a:pPr>
            <a:r>
              <a:rPr lang="en-US" sz="8800" spc="-2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six weeks</a:t>
            </a:r>
            <a:endParaRPr lang="en-US" sz="8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0" spc="-2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count.</a:t>
            </a:r>
            <a:endParaRPr lang="en-US" sz="8800" dirty="0"/>
          </a:p>
        </p:txBody>
      </p:sp>
      <p:sp>
        <p:nvSpPr>
          <p:cNvPr id="7" name="Shape 4"/>
          <p:cNvSpPr/>
          <p:nvPr/>
        </p:nvSpPr>
        <p:spPr>
          <a:xfrm>
            <a:off x="533400" y="4953000"/>
            <a:ext cx="2667000" cy="495300"/>
          </a:xfrm>
          <a:prstGeom prst="roundRect">
            <a:avLst>
              <a:gd name="adj" fmla="val 11077"/>
            </a:avLst>
          </a:prstGeom>
          <a:solidFill>
            <a:srgbClr val="0B0F14"/>
          </a:solidFill>
          <a:ln w="12700">
            <a:solidFill>
              <a:srgbClr val="0B0F1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3400" y="4953000"/>
            <a:ext cx="26670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Book the partnership call  →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352800" y="4953000"/>
            <a:ext cx="2095500" cy="495300"/>
          </a:xfrm>
          <a:prstGeom prst="roundRect">
            <a:avLst>
              <a:gd name="adj" fmla="val 11077"/>
            </a:avLst>
          </a:prstGeom>
          <a:solidFill>
            <a:srgbClr val="E4022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352800" y="4953000"/>
            <a:ext cx="2095500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See the one-pager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Agenda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AGENDA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33500"/>
            <a:ext cx="11124895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What we’ll </a:t>
            </a:r>
            <a:pPr indent="0" marL="0">
              <a:buNone/>
            </a:pPr>
            <a:r>
              <a:rPr lang="en-US" sz="52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cover</a:t>
            </a:r>
            <a:pPr indent="0" marL="0">
              <a:buNone/>
            </a:pPr>
            <a:r>
              <a:rPr lang="en-US" sz="52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today.</a:t>
            </a:r>
            <a:endParaRPr lang="en-US" sz="5200" dirty="0"/>
          </a:p>
        </p:txBody>
      </p:sp>
      <p:sp>
        <p:nvSpPr>
          <p:cNvPr id="7" name="Shape 4"/>
          <p:cNvSpPr/>
          <p:nvPr/>
        </p:nvSpPr>
        <p:spPr>
          <a:xfrm>
            <a:off x="533400" y="2667000"/>
            <a:ext cx="11124895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3400" y="2800350"/>
            <a:ext cx="5334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43000" y="2762250"/>
            <a:ext cx="3810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context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5143500" y="2819400"/>
            <a:ext cx="6286195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Why partnership, not procurement.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33400" y="3352800"/>
            <a:ext cx="11124895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33400" y="3486150"/>
            <a:ext cx="5334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143000" y="3448050"/>
            <a:ext cx="3810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four practices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5143500" y="3505200"/>
            <a:ext cx="6286195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Brands · Agencies · Intelligence · Workforce.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33400" y="4038600"/>
            <a:ext cx="11124895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3400" y="4171950"/>
            <a:ext cx="5334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1143000" y="4133850"/>
            <a:ext cx="3810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How the work runs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5143500" y="4191000"/>
            <a:ext cx="6286195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Operating cadence, team composition, governance.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33400" y="4724400"/>
            <a:ext cx="11124895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3400" y="4857750"/>
            <a:ext cx="5334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143000" y="4819650"/>
            <a:ext cx="3810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Proof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5143500" y="4876800"/>
            <a:ext cx="6286195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case studies. One from your sector.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33400" y="5410200"/>
            <a:ext cx="11124895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33400" y="5543550"/>
            <a:ext cx="533400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143000" y="5505450"/>
            <a:ext cx="3810000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Commercials &amp; next steps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5143500" y="5562600"/>
            <a:ext cx="6286195" cy="4000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Investment, governance, and what we’d need from your side to start.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33400" y="6096000"/>
            <a:ext cx="11124895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People on this engagement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11124895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PEOPLE ON THIS ENGAGEMENT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33500"/>
            <a:ext cx="11124895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Senior, </a:t>
            </a:r>
            <a:pPr indent="0" marL="0">
              <a:buNone/>
            </a:pPr>
            <a:r>
              <a:rPr lang="en-US" sz="52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named</a:t>
            </a:r>
            <a:pPr indent="0" marL="0">
              <a:buNone/>
            </a:pPr>
            <a:r>
              <a:rPr lang="en-US" sz="52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, accountable.</a:t>
            </a:r>
            <a:endParaRPr lang="en-US" sz="5200" dirty="0"/>
          </a:p>
        </p:txBody>
      </p:sp>
      <p:sp>
        <p:nvSpPr>
          <p:cNvPr id="7" name="Shape 4"/>
          <p:cNvSpPr/>
          <p:nvPr/>
        </p:nvSpPr>
        <p:spPr>
          <a:xfrm>
            <a:off x="533400" y="2667000"/>
            <a:ext cx="3555898" cy="3619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38200" y="2971800"/>
            <a:ext cx="857250" cy="857250"/>
          </a:xfrm>
          <a:prstGeom prst="ellipse">
            <a:avLst/>
          </a:prstGeom>
          <a:solidFill>
            <a:srgbClr val="F6F4F0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38200" y="2971800"/>
            <a:ext cx="857250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photo ]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38200" y="4076700"/>
            <a:ext cx="2946298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402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ROLE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38200" y="4286250"/>
            <a:ext cx="2946298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Partnership Lead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38200" y="4724400"/>
            <a:ext cx="29462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 Name Surname 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38200" y="5048250"/>
            <a:ext cx="2946298" cy="1047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Owns the commercial relationship, the roadmap, and the escalation path.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17898" y="2667000"/>
            <a:ext cx="3555898" cy="3619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22698" y="2971800"/>
            <a:ext cx="857250" cy="857250"/>
          </a:xfrm>
          <a:prstGeom prst="ellipse">
            <a:avLst/>
          </a:prstGeom>
          <a:solidFill>
            <a:srgbClr val="F6F4F0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22698" y="2971800"/>
            <a:ext cx="857250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photo ]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622698" y="4076700"/>
            <a:ext cx="2946298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402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ROLE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622698" y="4286250"/>
            <a:ext cx="2946298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Practice Lead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4622698" y="4724400"/>
            <a:ext cx="29462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 Name Surname ]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622698" y="5048250"/>
            <a:ext cx="2946298" cy="1047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Runs the weekly operating cadence and signs off every shipped surface.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02397" y="2667000"/>
            <a:ext cx="3555898" cy="36195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07197" y="2971800"/>
            <a:ext cx="857250" cy="857250"/>
          </a:xfrm>
          <a:prstGeom prst="ellipse">
            <a:avLst/>
          </a:prstGeom>
          <a:solidFill>
            <a:srgbClr val="F6F4F0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07197" y="2971800"/>
            <a:ext cx="857250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photo ]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407197" y="4076700"/>
            <a:ext cx="2946298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402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ROLE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407197" y="4286250"/>
            <a:ext cx="2946298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Specialist Pod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8407197" y="4724400"/>
            <a:ext cx="294629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 Name Surname ]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407197" y="5048250"/>
            <a:ext cx="2946298" cy="1047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3–5 senior ICs embedded inside your team for the engagement duration.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First 90 days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FIRST 90 DAYS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33500"/>
            <a:ext cx="11124895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A bounded </a:t>
            </a:r>
            <a:pPr indent="0" marL="0">
              <a:buNone/>
            </a:pPr>
            <a:r>
              <a:rPr lang="en-US" sz="48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start</a:t>
            </a:r>
            <a:pPr indent="0" marL="0">
              <a:buNone/>
            </a:pPr>
            <a:r>
              <a:rPr lang="en-US" sz="48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— with a clear exit.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838200" y="3429000"/>
            <a:ext cx="10515295" cy="0"/>
          </a:xfrm>
          <a:prstGeom prst="line">
            <a:avLst/>
          </a:prstGeom>
          <a:noFill/>
          <a:ln w="25400">
            <a:solidFill>
              <a:srgbClr val="1A223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42950" y="3333750"/>
            <a:ext cx="190500" cy="190500"/>
          </a:xfrm>
          <a:prstGeom prst="ellipse">
            <a:avLst/>
          </a:prstGeom>
          <a:solidFill>
            <a:srgbClr val="0B0F14"/>
          </a:solidFill>
          <a:ln w="12700">
            <a:solidFill>
              <a:srgbClr val="0B0F1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200" y="3657600"/>
            <a:ext cx="1524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 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6200" y="3848100"/>
            <a:ext cx="1524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Kickoff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71774" y="3333750"/>
            <a:ext cx="190500" cy="190500"/>
          </a:xfrm>
          <a:prstGeom prst="ellipse">
            <a:avLst/>
          </a:prstGeom>
          <a:solidFill>
            <a:srgbClr val="0B0F14"/>
          </a:solidFill>
          <a:ln w="12700">
            <a:solidFill>
              <a:srgbClr val="0B0F1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05024" y="3657600"/>
            <a:ext cx="1524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705024" y="3848100"/>
            <a:ext cx="1524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Discovery signed off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000598" y="3333750"/>
            <a:ext cx="190500" cy="190500"/>
          </a:xfrm>
          <a:prstGeom prst="ellipse">
            <a:avLst/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33848" y="3657600"/>
            <a:ext cx="1524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 4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333848" y="3848100"/>
            <a:ext cx="1524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spc="-3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First surface live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629421" y="3333750"/>
            <a:ext cx="190500" cy="190500"/>
          </a:xfrm>
          <a:prstGeom prst="ellipse">
            <a:avLst/>
          </a:prstGeom>
          <a:solidFill>
            <a:srgbClr val="0B0F14"/>
          </a:solidFill>
          <a:ln w="12700">
            <a:solidFill>
              <a:srgbClr val="0B0F1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62671" y="3657600"/>
            <a:ext cx="1524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 8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962671" y="3848100"/>
            <a:ext cx="1524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Measurable lift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11258245" y="3333750"/>
            <a:ext cx="190500" cy="190500"/>
          </a:xfrm>
          <a:prstGeom prst="ellipse">
            <a:avLst/>
          </a:prstGeom>
          <a:solidFill>
            <a:srgbClr val="0B0F14"/>
          </a:solidFill>
          <a:ln w="12700">
            <a:solidFill>
              <a:srgbClr val="0B0F1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91495" y="3657600"/>
            <a:ext cx="152400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Week 12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0591495" y="3848100"/>
            <a:ext cx="15240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Renew or hand over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33400" y="5334000"/>
            <a:ext cx="11124895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i="1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first 90 days are a bounded engagement. If we’re not earning the renewal by day 75, we say so first.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Commercials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PARTNERSHIP TIERS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14450"/>
            <a:ext cx="11124895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Commit to the </a:t>
            </a:r>
            <a:pPr indent="0" marL="0">
              <a:buNone/>
            </a:pPr>
            <a:r>
              <a:rPr lang="en-US" sz="44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depth</a:t>
            </a:r>
            <a:pPr indent="0" marL="0">
              <a:buNone/>
            </a:pPr>
            <a:r>
              <a:rPr lang="en-US" sz="44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that fits the work.</a:t>
            </a:r>
            <a:endParaRPr lang="en-US" sz="4400" dirty="0"/>
          </a:p>
        </p:txBody>
      </p:sp>
      <p:sp>
        <p:nvSpPr>
          <p:cNvPr id="7" name="Shape 4"/>
          <p:cNvSpPr/>
          <p:nvPr/>
        </p:nvSpPr>
        <p:spPr>
          <a:xfrm>
            <a:off x="533400" y="2495550"/>
            <a:ext cx="3581298" cy="3276600"/>
          </a:xfrm>
          <a:prstGeom prst="roundRect">
            <a:avLst>
              <a:gd name="adj" fmla="val 3349"/>
            </a:avLst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2950" y="2705100"/>
            <a:ext cx="316219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Starter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42950" y="3009900"/>
            <a:ext cx="3162198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spc="-1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12k</a:t>
            </a:r>
            <a:pPr indent="0" marL="0">
              <a:buNone/>
            </a:pPr>
            <a:r>
              <a:rPr lang="en-US" sz="1300" baseline="30000" spc="-150" kern="0" dirty="0">
                <a:solidFill>
                  <a:srgbClr val="5B6573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/mo</a:t>
            </a:r>
            <a:endParaRPr lang="en-US" sz="4600" dirty="0"/>
          </a:p>
        </p:txBody>
      </p:sp>
      <p:sp>
        <p:nvSpPr>
          <p:cNvPr id="10" name="Text 7"/>
          <p:cNvSpPr/>
          <p:nvPr/>
        </p:nvSpPr>
        <p:spPr>
          <a:xfrm>
            <a:off x="742950" y="3619500"/>
            <a:ext cx="31621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" kern="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 scoped engagements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42950" y="3886200"/>
            <a:ext cx="316219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42950" y="39814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14400" y="39624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Dedicated strategist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42950" y="41719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914400" y="41529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 to 2 workstreams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42950" y="43624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914400" y="43434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Bi-weekly reviews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42950" y="45529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14400" y="45339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Shared delivery pod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42950" y="47434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14400" y="47244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Quarterly benchmarks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42950" y="5314950"/>
            <a:ext cx="3162198" cy="304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42950" y="5314950"/>
            <a:ext cx="3162198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305198" y="2495550"/>
            <a:ext cx="3581298" cy="3276600"/>
          </a:xfrm>
          <a:prstGeom prst="roundRect">
            <a:avLst>
              <a:gd name="adj" fmla="val 3349"/>
            </a:avLst>
          </a:prstGeom>
          <a:solidFill>
            <a:srgbClr val="FFFFFF"/>
          </a:solidFill>
          <a:ln w="19050">
            <a:solidFill>
              <a:srgbClr val="E4022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14748" y="2400300"/>
            <a:ext cx="1123950" cy="209550"/>
          </a:xfrm>
          <a:prstGeom prst="roundRect">
            <a:avLst>
              <a:gd name="adj" fmla="val 52364"/>
            </a:avLst>
          </a:prstGeom>
          <a:solidFill>
            <a:srgbClr val="E4022D"/>
          </a:solidFill>
          <a:ln w="12700">
            <a:solidFill>
              <a:srgbClr val="E4022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14748" y="2400300"/>
            <a:ext cx="1123950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MOST PARTNERS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514748" y="2705100"/>
            <a:ext cx="316219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Partnership</a:t>
            </a:r>
            <a:endParaRPr lang="en-US" sz="2000" dirty="0"/>
          </a:p>
        </p:txBody>
      </p:sp>
      <p:sp>
        <p:nvSpPr>
          <p:cNvPr id="28" name="Text 25"/>
          <p:cNvSpPr/>
          <p:nvPr/>
        </p:nvSpPr>
        <p:spPr>
          <a:xfrm>
            <a:off x="4514748" y="3009900"/>
            <a:ext cx="3162198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spc="-1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28k</a:t>
            </a:r>
            <a:pPr indent="0" marL="0">
              <a:buNone/>
            </a:pPr>
            <a:r>
              <a:rPr lang="en-US" sz="1300" baseline="30000" spc="-150" kern="0" dirty="0">
                <a:solidFill>
                  <a:srgbClr val="5B6573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/mo</a:t>
            </a:r>
            <a:endParaRPr lang="en-US" sz="4600" dirty="0"/>
          </a:p>
        </p:txBody>
      </p:sp>
      <p:sp>
        <p:nvSpPr>
          <p:cNvPr id="29" name="Text 26"/>
          <p:cNvSpPr/>
          <p:nvPr/>
        </p:nvSpPr>
        <p:spPr>
          <a:xfrm>
            <a:off x="4514748" y="3619500"/>
            <a:ext cx="31621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" kern="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Full team embedded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14748" y="3886200"/>
            <a:ext cx="316219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14748" y="39814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686198" y="39624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Partnership lead + pod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514748" y="41719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686198" y="41529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Unlimited workstreams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514748" y="43624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686198" y="43434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Weekly operating cadence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514748" y="45529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4686198" y="45339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Full design + engineering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4514748" y="47434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4686198" y="47244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Executive governance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514748" y="5314950"/>
            <a:ext cx="3162198" cy="304800"/>
          </a:xfrm>
          <a:prstGeom prst="roundRect">
            <a:avLst>
              <a:gd name="adj" fmla="val 15000"/>
            </a:avLst>
          </a:prstGeom>
          <a:solidFill>
            <a:srgbClr val="0B0F14"/>
          </a:solidFill>
          <a:ln w="12700">
            <a:solidFill>
              <a:srgbClr val="0B0F1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514748" y="5314950"/>
            <a:ext cx="3162198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Build the partnership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8076997" y="2495550"/>
            <a:ext cx="3581298" cy="3276600"/>
          </a:xfrm>
          <a:prstGeom prst="roundRect">
            <a:avLst>
              <a:gd name="adj" fmla="val 3349"/>
            </a:avLst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286547" y="2705100"/>
            <a:ext cx="316219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spc="-3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Enterprise</a:t>
            </a:r>
            <a:endParaRPr lang="en-US" sz="2000" dirty="0"/>
          </a:p>
        </p:txBody>
      </p:sp>
      <p:sp>
        <p:nvSpPr>
          <p:cNvPr id="45" name="Text 42"/>
          <p:cNvSpPr/>
          <p:nvPr/>
        </p:nvSpPr>
        <p:spPr>
          <a:xfrm>
            <a:off x="8286547" y="3009900"/>
            <a:ext cx="3162198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spc="-1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Custom</a:t>
            </a:r>
            <a:endParaRPr lang="en-US" sz="4600" dirty="0"/>
          </a:p>
        </p:txBody>
      </p:sp>
      <p:sp>
        <p:nvSpPr>
          <p:cNvPr id="46" name="Text 43"/>
          <p:cNvSpPr/>
          <p:nvPr/>
        </p:nvSpPr>
        <p:spPr>
          <a:xfrm>
            <a:off x="8286547" y="3619500"/>
            <a:ext cx="31621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50" kern="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Multi-market programs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8286547" y="3886200"/>
            <a:ext cx="316219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286547" y="39814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8457997" y="39624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Multi-pod deployment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8286547" y="41719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8457997" y="41529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Dedicated AI &amp; data team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8286547" y="43624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8457997" y="43434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24/7 operational coverage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286547" y="45529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55" name="Text 52"/>
          <p:cNvSpPr/>
          <p:nvPr/>
        </p:nvSpPr>
        <p:spPr>
          <a:xfrm>
            <a:off x="8457997" y="45339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Regional legal &amp; compliance</a:t>
            </a:r>
            <a:endParaRPr lang="en-US" sz="1200" dirty="0"/>
          </a:p>
        </p:txBody>
      </p:sp>
      <p:sp>
        <p:nvSpPr>
          <p:cNvPr id="56" name="Text 53"/>
          <p:cNvSpPr/>
          <p:nvPr/>
        </p:nvSpPr>
        <p:spPr>
          <a:xfrm>
            <a:off x="8286547" y="4743450"/>
            <a:ext cx="133350" cy="152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✓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8457997" y="4724400"/>
            <a:ext cx="2990748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Custom SLAs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8286547" y="5314950"/>
            <a:ext cx="3162198" cy="304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286547" y="5314950"/>
            <a:ext cx="3162198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Talk to leadership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Comparison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OLD WAY VS. PARTNERSHIP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14450"/>
            <a:ext cx="11124895" cy="666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difference is </a:t>
            </a:r>
            <a:pPr indent="0" marL="0">
              <a:buNone/>
            </a:pPr>
            <a:r>
              <a:rPr lang="en-US" sz="4000" i="1" spc="-5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ownership</a:t>
            </a:r>
            <a:pPr indent="0" marL="0">
              <a:buNone/>
            </a:pPr>
            <a:r>
              <a:rPr lang="en-US" sz="4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, not headcount.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2057400" y="2286000"/>
            <a:ext cx="480044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OLD WAY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857848" y="2286000"/>
            <a:ext cx="4800448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E4022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KILOWOTT WAY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057400" y="2552700"/>
            <a:ext cx="4800448" cy="0"/>
          </a:xfrm>
          <a:prstGeom prst="line">
            <a:avLst/>
          </a:prstGeom>
          <a:noFill/>
          <a:ln w="12700">
            <a:solidFill>
              <a:srgbClr val="E2DED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57848" y="2552700"/>
            <a:ext cx="4800448" cy="0"/>
          </a:xfrm>
          <a:prstGeom prst="line">
            <a:avLst/>
          </a:prstGeom>
          <a:noFill/>
          <a:ln w="12700">
            <a:solidFill>
              <a:srgbClr val="E4022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3400" y="2743200"/>
            <a:ext cx="1409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TIME TO FIRST SHIP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2171700" y="27432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6–9 months of RFPs, vendor onboarding, contract ping-pong.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857848" y="2667000"/>
            <a:ext cx="4800448" cy="628650"/>
          </a:xfrm>
          <a:prstGeom prst="rect">
            <a:avLst/>
          </a:prstGeom>
          <a:solidFill>
            <a:srgbClr val="FEEBEE"/>
          </a:solidFill>
          <a:ln w="12700">
            <a:solidFill>
              <a:srgbClr val="FEEBE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72148" y="27432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Six weeks to a live first surface, measured against the same brief.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3400" y="3295650"/>
            <a:ext cx="11124895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33400" y="3390900"/>
            <a:ext cx="1409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COST SHAPE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2171700" y="33909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Fixed-bid quotes that balloon on change orders and scope creep.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857848" y="3314700"/>
            <a:ext cx="4800448" cy="628650"/>
          </a:xfrm>
          <a:prstGeom prst="rect">
            <a:avLst/>
          </a:prstGeom>
          <a:solidFill>
            <a:srgbClr val="FEEBEE"/>
          </a:solidFill>
          <a:ln w="12700">
            <a:solidFill>
              <a:srgbClr val="FEEB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972148" y="33909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Predictable monthly investment, scaled by the work that actually lands.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33400" y="3943350"/>
            <a:ext cx="11124895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33400" y="4038600"/>
            <a:ext cx="1409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OWNERSHIP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2171700" y="40386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brief, approve, and absorb every handoff gap between agencies.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7848" y="3962400"/>
            <a:ext cx="4800448" cy="628650"/>
          </a:xfrm>
          <a:prstGeom prst="rect">
            <a:avLst/>
          </a:prstGeom>
          <a:solidFill>
            <a:srgbClr val="FEEBEE"/>
          </a:solidFill>
          <a:ln w="12700">
            <a:solidFill>
              <a:srgbClr val="FEEBE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972148" y="40386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accountable pod owns strategy through live operations.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33400" y="4591050"/>
            <a:ext cx="11124895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33400" y="4686300"/>
            <a:ext cx="1409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RISK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2171700" y="46863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Failure modes surface at launch, when the cost of a pivot is highest.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857848" y="4610100"/>
            <a:ext cx="4800448" cy="628650"/>
          </a:xfrm>
          <a:prstGeom prst="rect">
            <a:avLst/>
          </a:prstGeom>
          <a:solidFill>
            <a:srgbClr val="FEEBEE"/>
          </a:solidFill>
          <a:ln w="12700">
            <a:solidFill>
              <a:srgbClr val="FEEBE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972148" y="46863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Weekly operating cadence exposes risk before it gets expensive.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533400" y="5238750"/>
            <a:ext cx="11124895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33400" y="5334000"/>
            <a:ext cx="1409700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OUTCOME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2171700" y="53340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deliverable. Maybe two. Handed over to the internal team to run.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857848" y="5257800"/>
            <a:ext cx="4800448" cy="628650"/>
          </a:xfrm>
          <a:prstGeom prst="rect">
            <a:avLst/>
          </a:prstGeom>
          <a:solidFill>
            <a:srgbClr val="FEEBEE"/>
          </a:solidFill>
          <a:ln w="12700">
            <a:solidFill>
              <a:srgbClr val="FEEBE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972148" y="5334000"/>
            <a:ext cx="4571848" cy="4953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0B0F1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running program — and a team trained to take it in-house.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33400" y="5886450"/>
            <a:ext cx="11124895" cy="0"/>
          </a:xfrm>
          <a:prstGeom prst="line">
            <a:avLst/>
          </a:prstGeom>
          <a:noFill/>
          <a:ln w="12700">
            <a:solidFill>
              <a:srgbClr val="EEEEEE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4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Who we work with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WHO WE WORK WITH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14450"/>
            <a:ext cx="11124895" cy="8572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Enterprise clients, </a:t>
            </a:r>
            <a:pPr indent="0" marL="0">
              <a:buNone/>
            </a:pPr>
            <a:r>
              <a:rPr lang="en-US" sz="4600" i="1" spc="-1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measurable</a:t>
            </a:r>
            <a:pPr indent="0" marL="0">
              <a:buNone/>
            </a:pPr>
            <a:r>
              <a:rPr lang="en-US" sz="4600" spc="-10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outcomes.</a:t>
            </a:r>
            <a:endParaRPr lang="en-US" sz="4600" dirty="0"/>
          </a:p>
        </p:txBody>
      </p:sp>
      <p:sp>
        <p:nvSpPr>
          <p:cNvPr id="7" name="Shape 4"/>
          <p:cNvSpPr/>
          <p:nvPr/>
        </p:nvSpPr>
        <p:spPr>
          <a:xfrm>
            <a:off x="609600" y="2838450"/>
            <a:ext cx="2628824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09600" y="2838450"/>
            <a:ext cx="2628824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90824" y="2838450"/>
            <a:ext cx="2628824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390824" y="2838450"/>
            <a:ext cx="2628824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72048" y="2838450"/>
            <a:ext cx="2628824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72048" y="2838450"/>
            <a:ext cx="2628824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953271" y="2838450"/>
            <a:ext cx="2628824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53271" y="2838450"/>
            <a:ext cx="2628824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09600" y="3981450"/>
            <a:ext cx="2628824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9600" y="3981450"/>
            <a:ext cx="2628824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390824" y="3981450"/>
            <a:ext cx="2628824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90824" y="3981450"/>
            <a:ext cx="2628824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172048" y="3981450"/>
            <a:ext cx="2628824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72048" y="3981450"/>
            <a:ext cx="2628824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953271" y="3981450"/>
            <a:ext cx="2628824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53271" y="3981450"/>
            <a:ext cx="2628824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9600" y="5124450"/>
            <a:ext cx="2628824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09600" y="5124450"/>
            <a:ext cx="2628824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390824" y="5124450"/>
            <a:ext cx="2628824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390824" y="5124450"/>
            <a:ext cx="2628824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172048" y="5124450"/>
            <a:ext cx="2628824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172048" y="5124450"/>
            <a:ext cx="2628824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8953271" y="5124450"/>
            <a:ext cx="2628824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6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953271" y="5124450"/>
            <a:ext cx="2628824" cy="990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 Client logo ]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33400" y="5524500"/>
            <a:ext cx="11124895" cy="2095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57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Sector coverage: retail · fintech · manufacturing · hospitality · energy · logistics.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Growth metric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7A82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102870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</a:t>
            </a:r>
            <a:pPr indent="0" marL="0">
              <a:buNone/>
            </a:pPr>
            <a:r>
              <a:rPr lang="en-US" sz="1100" b="1" spc="400" kern="0" dirty="0">
                <a:solidFill>
                  <a:srgbClr val="E4022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GROWTH METRIC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33400" y="1314450"/>
            <a:ext cx="11124895" cy="1333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Revenue ran </a:t>
            </a:r>
            <a:pPr indent="0" marL="0">
              <a:lnSpc>
                <a:spcPct val="105000"/>
              </a:lnSpc>
              <a:buNone/>
            </a:pPr>
            <a:r>
              <a:rPr lang="en-US" sz="4000" i="1" spc="-5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+68%</a:t>
            </a:r>
            <a:pPr indent="0" marL="0">
              <a:lnSpc>
                <a:spcPct val="105000"/>
              </a:lnSpc>
              <a:buNone/>
            </a:pPr>
            <a:r>
              <a:rPr lang="en-US" sz="4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 across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spc="-50" kern="0" dirty="0">
                <a:solidFill>
                  <a:srgbClr val="0B0F14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the engagement.</a:t>
            </a:r>
            <a:endParaRPr lang="en-US" sz="4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33400" y="3143250"/>
          <a:ext cx="11124895" cy="20955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33400" y="5524500"/>
            <a:ext cx="11124895" cy="190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5B657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 — Kilowott engagement data · coffee-brand DTC · H1–H2 2024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kilowott-deck-build/logo-pap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400" y="457200"/>
            <a:ext cx="1143000" cy="1714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3400" y="6343650"/>
            <a:ext cx="609584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spc="200" kern="0" dirty="0">
                <a:solidFill>
                  <a:srgbClr val="BFC5C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Kilowott · Thank you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1048695" y="6343650"/>
            <a:ext cx="609600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FC5C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 / 15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33400" y="2286000"/>
            <a:ext cx="11124895" cy="190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0" spc="-3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Thank </a:t>
            </a:r>
            <a:pPr indent="0" marL="0">
              <a:lnSpc>
                <a:spcPct val="100000"/>
              </a:lnSpc>
              <a:buNone/>
            </a:pPr>
            <a:r>
              <a:rPr lang="en-US" sz="15000" i="1" spc="-300" kern="0" dirty="0">
                <a:solidFill>
                  <a:srgbClr val="E4022D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you</a:t>
            </a:r>
            <a:pPr indent="0" marL="0">
              <a:lnSpc>
                <a:spcPct val="100000"/>
              </a:lnSpc>
              <a:buNone/>
            </a:pPr>
            <a:r>
              <a:rPr lang="en-US" sz="15000" spc="-300" kern="0" dirty="0">
                <a:solidFill>
                  <a:srgbClr val="FFFFFF"/>
                </a:solidFill>
                <a:latin typeface="Newsreader" pitchFamily="34" charset="0"/>
                <a:ea typeface="Newsreader" pitchFamily="34" charset="-122"/>
                <a:cs typeface="Newsreader" pitchFamily="34" charset="-120"/>
              </a:rPr>
              <a:t>.</a:t>
            </a:r>
            <a:endParaRPr lang="en-US" sz="15000" dirty="0"/>
          </a:p>
        </p:txBody>
      </p:sp>
      <p:sp>
        <p:nvSpPr>
          <p:cNvPr id="6" name="Text 3"/>
          <p:cNvSpPr/>
          <p:nvPr/>
        </p:nvSpPr>
        <p:spPr>
          <a:xfrm>
            <a:off x="533400" y="4381500"/>
            <a:ext cx="11124895" cy="381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FC5C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Questions — or the next 20 minutes on whatever’s most useful.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33400" y="4953000"/>
            <a:ext cx="37082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95A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CONTACT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33400" y="5162550"/>
            <a:ext cx="3708298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[partner@kilowott.com]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241698" y="4953000"/>
            <a:ext cx="37082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95A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DIRECT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241698" y="5162550"/>
            <a:ext cx="3708298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[+xx xx xxx xxxx]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949997" y="4953000"/>
            <a:ext cx="3708298" cy="1714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8A95A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DECK VERSION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949997" y="5162550"/>
            <a:ext cx="3708298" cy="266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v0.6 ·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Kilowott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Kilowott — Partnership Deck Template</dc:title>
  <dc:subject>v0.6 Editorial Register · 15 canonical layouts</dc:subject>
  <dc:creator>Kilowott</dc:creator>
  <cp:lastModifiedBy>Kilowott</cp:lastModifiedBy>
  <cp:revision>1</cp:revision>
  <dcterms:created xsi:type="dcterms:W3CDTF">2026-04-24T03:34:23Z</dcterms:created>
  <dcterms:modified xsi:type="dcterms:W3CDTF">2026-04-24T03:34:23Z</dcterms:modified>
</cp:coreProperties>
</file>